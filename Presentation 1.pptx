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9B9AB9-39DF-4618-A40A-C26FFF00E82F}" v="9" dt="2026-04-10T08:46:08.533"/>
    <p1510:client id="{6A3ACBE6-6C84-4E92-8F17-4569A473D6EB}" v="250" dt="2026-04-10T09:05:18.221"/>
    <p1510:client id="{BF435D37-4A28-41C3-87DB-4EF2CA751779}" v="259" dt="2026-04-10T08:43:35.6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883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866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7952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043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328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160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900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812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264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354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534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8357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4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dbms/dml-full-for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79" y="1473198"/>
            <a:ext cx="7414029" cy="2696866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100"/>
              <a:t>DATABASE LANGUAGES IN DBMS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" y="5044043"/>
            <a:ext cx="6806609" cy="1175780"/>
          </a:xfrm>
        </p:spPr>
        <p:txBody>
          <a:bodyPr anchor="t">
            <a:normAutofit/>
          </a:bodyPr>
          <a:lstStyle/>
          <a:p>
            <a:endParaRPr lang="en-US" sz="240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B9E2C38-33D2-1944-B9C2-8965AFC61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0869" y="4733523"/>
            <a:ext cx="73152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36DC9-9583-0643-6158-A1288A684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They are of 5 types: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F8B1-FE9C-625A-644E-6F47BB89C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9722" y="2326397"/>
            <a:ext cx="10890928" cy="356616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Calibri" panose="020B0604020202020204" pitchFamily="34" charset="0"/>
              <a:buChar char="-"/>
            </a:pPr>
            <a:r>
              <a:rPr lang="en-US" sz="2800" b="1">
                <a:latin typeface="Calibri"/>
                <a:ea typeface="Calibri"/>
                <a:cs typeface="Calibri"/>
              </a:rPr>
              <a:t>DDL </a:t>
            </a:r>
            <a:r>
              <a:rPr lang="en-US" sz="2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(Data Definition Language)</a:t>
            </a:r>
            <a:r>
              <a:rPr lang="en-US" sz="1200" dirty="0">
                <a:solidFill>
                  <a:srgbClr val="273239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 </a:t>
            </a:r>
            <a:endParaRPr lang="en-US" sz="1200" b="1">
              <a:latin typeface="Calibri"/>
              <a:ea typeface="Calibri"/>
              <a:cs typeface="Calibri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n-US" sz="2800" b="1">
                <a:latin typeface="Calibri"/>
                <a:ea typeface="Calibri"/>
                <a:cs typeface="Calibri"/>
              </a:rPr>
              <a:t>DML (Data Manipulation Language)</a:t>
            </a:r>
            <a:r>
              <a:rPr lang="en-US" sz="1200" dirty="0">
                <a:solidFill>
                  <a:srgbClr val="273239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 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n-US" sz="2800" b="1">
                <a:latin typeface="Calibri"/>
                <a:ea typeface="Calibri"/>
                <a:cs typeface="Calibri"/>
              </a:rPr>
              <a:t>DCL (Data Control Language)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2800" b="1">
                <a:latin typeface="Calibri"/>
                <a:ea typeface="Calibri"/>
                <a:cs typeface="Calibri"/>
              </a:rPr>
              <a:t>TCL (Transaction Control Language)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2800" b="1">
                <a:latin typeface="Calibri"/>
                <a:ea typeface="Calibri"/>
                <a:cs typeface="Calibri"/>
              </a:rPr>
              <a:t>DQL (Data Query Language)</a:t>
            </a:r>
          </a:p>
        </p:txBody>
      </p:sp>
    </p:spTree>
    <p:extLst>
      <p:ext uri="{BB962C8B-B14F-4D97-AF65-F5344CB8AC3E}">
        <p14:creationId xmlns:p14="http://schemas.microsoft.com/office/powerpoint/2010/main" val="185928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F0233-BE1E-0E99-B2A4-84D572491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DDL (Data Definition Language)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3BD17-47FC-DB2E-523A-3C406821D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198044"/>
            <a:ext cx="10890928" cy="400158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Font typeface="Wingdings" panose="020B0604020202020204" pitchFamily="34" charset="0"/>
              <a:buChar char="§"/>
            </a:pPr>
            <a:r>
              <a:rPr lang="en-US" dirty="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Used to define and modify the structure or schema of the database, such as creating or deleting tables.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Font typeface="Wingdings" panose="020B0604020202020204" pitchFamily="34" charset="0"/>
              <a:buChar char="§"/>
            </a:pPr>
            <a:r>
              <a:rPr lang="en-US" sz="2800" dirty="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 </a:t>
            </a:r>
            <a:r>
              <a:rPr lang="en-US" sz="1800" dirty="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+mn-lt"/>
                <a:cs typeface="+mn-lt"/>
              </a:rPr>
              <a:t>It deals with the creation and modification of database schema, but it doesn't deal with the data itself.</a:t>
            </a:r>
            <a:endParaRPr lang="en-US"/>
          </a:p>
          <a:p>
            <a:pPr marL="0" indent="0">
              <a:buNone/>
            </a:pPr>
            <a:r>
              <a:rPr lang="en-US" sz="1800" u="sng" dirty="0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Different commands used in DDL </a:t>
            </a:r>
            <a:r>
              <a:rPr lang="en-US" sz="1800" u="sng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are:</a:t>
            </a:r>
          </a:p>
          <a:p>
            <a:pPr>
              <a:buFont typeface="Wingdings" panose="020B0604020202020204" pitchFamily="34" charset="0"/>
              <a:buChar char="§"/>
            </a:pPr>
            <a:r>
              <a:rPr lang="en-US" sz="1800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CREATE</a:t>
            </a:r>
          </a:p>
          <a:p>
            <a:pPr>
              <a:buFont typeface="Wingdings" panose="020B0604020202020204" pitchFamily="34" charset="0"/>
              <a:buChar char="§"/>
            </a:pPr>
            <a:r>
              <a:rPr lang="en-US" sz="1800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ALTER</a:t>
            </a:r>
          </a:p>
          <a:p>
            <a:pPr>
              <a:buFont typeface="Wingdings" panose="020B0604020202020204" pitchFamily="34" charset="0"/>
              <a:buChar char="§"/>
            </a:pPr>
            <a:r>
              <a:rPr lang="en-US" sz="1800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DROP</a:t>
            </a:r>
            <a:endParaRPr lang="en-US" sz="1800" dirty="0">
              <a:solidFill>
                <a:srgbClr val="273239"/>
              </a:solidFill>
              <a:highlight>
                <a:srgbClr val="FFFFFF"/>
              </a:highlight>
              <a:latin typeface="Nunito"/>
            </a:endParaRPr>
          </a:p>
          <a:p>
            <a:pPr>
              <a:buFont typeface="Wingdings" panose="020B0604020202020204" pitchFamily="34" charset="0"/>
              <a:buChar char="§"/>
            </a:pPr>
            <a:r>
              <a:rPr lang="en-US" sz="1800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TRUNCATE</a:t>
            </a:r>
          </a:p>
          <a:p>
            <a:pPr>
              <a:buFont typeface="Wingdings" panose="020B0604020202020204" pitchFamily="34" charset="0"/>
              <a:buChar char="§"/>
            </a:pPr>
            <a:r>
              <a:rPr lang="en-US" sz="1800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RENAME</a:t>
            </a:r>
            <a:endParaRPr lang="en-US" sz="1800" dirty="0">
              <a:solidFill>
                <a:srgbClr val="273239"/>
              </a:solidFill>
              <a:highlight>
                <a:srgbClr val="FFFFFF"/>
              </a:highlight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593853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50025-F36D-6658-A6E3-659E623CA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375568"/>
            <a:ext cx="10890928" cy="48240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b="1" dirty="0">
                <a:solidFill>
                  <a:srgbClr val="FF0000"/>
                </a:solidFill>
                <a:highlight>
                  <a:srgbClr val="FFFFFF"/>
                </a:highlight>
                <a:latin typeface="Nunito"/>
              </a:rPr>
              <a:t>CREATE:</a:t>
            </a:r>
            <a:r>
              <a:rPr lang="en-US" sz="1800" dirty="0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 Used to create database objects like tables, indexes or views.</a:t>
            </a:r>
            <a:endParaRPr lang="en-US" sz="1800"/>
          </a:p>
          <a:p>
            <a:r>
              <a:rPr lang="en-US" sz="1800" b="1" dirty="0">
                <a:solidFill>
                  <a:srgbClr val="FF0000"/>
                </a:solidFill>
                <a:highlight>
                  <a:srgbClr val="FFFFFF"/>
                </a:highlight>
                <a:latin typeface="Nunito"/>
              </a:rPr>
              <a:t>ALTER: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Nunito"/>
              </a:rPr>
              <a:t> </a:t>
            </a:r>
            <a:r>
              <a:rPr lang="en-US" sz="1800" dirty="0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Used to modify the structure of an existing database object, such as adding a new column to a table.</a:t>
            </a:r>
            <a:endParaRPr lang="en-US" sz="1800"/>
          </a:p>
          <a:p>
            <a:r>
              <a:rPr lang="en-US" sz="1800" b="1" dirty="0">
                <a:solidFill>
                  <a:srgbClr val="FF0000"/>
                </a:solidFill>
                <a:highlight>
                  <a:srgbClr val="FFFFFF"/>
                </a:highlight>
                <a:latin typeface="Nunito"/>
              </a:rPr>
              <a:t>DROP: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Nunito"/>
              </a:rPr>
              <a:t> </a:t>
            </a:r>
            <a:r>
              <a:rPr lang="en-US" sz="1800" dirty="0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Used to delete database objects.</a:t>
            </a:r>
            <a:endParaRPr lang="en-US" sz="1800"/>
          </a:p>
          <a:p>
            <a:r>
              <a:rPr lang="en-US" sz="1800" b="1">
                <a:solidFill>
                  <a:srgbClr val="FF0000"/>
                </a:solidFill>
                <a:highlight>
                  <a:srgbClr val="FFFFFF"/>
                </a:highlight>
                <a:latin typeface="Nunito"/>
              </a:rPr>
              <a:t>TRUNCATE: </a:t>
            </a:r>
            <a:r>
              <a:rPr lang="en-US" sz="1800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Used to remove all rows from a table, without affecting the structure.</a:t>
            </a:r>
            <a:endParaRPr lang="en-US" sz="1800"/>
          </a:p>
          <a:p>
            <a:r>
              <a:rPr lang="en-US" sz="1800" b="1">
                <a:solidFill>
                  <a:srgbClr val="FF0000"/>
                </a:solidFill>
                <a:highlight>
                  <a:srgbClr val="FFFFFF"/>
                </a:highlight>
                <a:latin typeface="Nunito"/>
              </a:rPr>
              <a:t>RENAME:</a:t>
            </a:r>
            <a:r>
              <a:rPr lang="en-US" sz="1800" b="1" dirty="0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 </a:t>
            </a:r>
            <a:r>
              <a:rPr lang="en-US" sz="1800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Used to change the name of a database object.</a:t>
            </a:r>
            <a:endParaRPr lang="en-US" sz="180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715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E640F-6515-B19F-EABE-D00798731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Data Manipulation </a:t>
            </a:r>
            <a:r>
              <a:rPr lang="en-US" dirty="0" err="1">
                <a:latin typeface="Calibri"/>
                <a:ea typeface="Calibri"/>
                <a:cs typeface="Calibri"/>
              </a:rPr>
              <a:t>Langua</a:t>
            </a:r>
            <a:r>
              <a:rPr lang="en-US" dirty="0">
                <a:latin typeface="Calibri"/>
                <a:ea typeface="Calibri"/>
                <a:cs typeface="Calibri"/>
              </a:rPr>
              <a:t>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E59E0-8144-8761-FB23-8333245E2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857" y="2212667"/>
            <a:ext cx="11050151" cy="412344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Wingdings" panose="020B0604020202020204" pitchFamily="34" charset="0"/>
              <a:buChar char="v"/>
            </a:pPr>
            <a:r>
              <a:rPr lang="en-US" dirty="0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The DML (</a:t>
            </a:r>
            <a:r>
              <a:rPr lang="en-US" u="sng" dirty="0">
                <a:solidFill>
                  <a:srgbClr val="357960"/>
                </a:solidFill>
                <a:highlight>
                  <a:srgbClr val="FFFFFF"/>
                </a:highlight>
                <a:latin typeface="Nunito"/>
                <a:hlinkClick r:id="rId2"/>
              </a:rPr>
              <a:t>Data Manipulation Language</a:t>
            </a:r>
            <a:r>
              <a:rPr lang="en-US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) is used to manage and manipulate data within a database. </a:t>
            </a:r>
            <a:endParaRPr lang="en-US">
              <a:solidFill>
                <a:srgbClr val="000000"/>
              </a:solidFill>
              <a:latin typeface="Grandview Display"/>
            </a:endParaRPr>
          </a:p>
          <a:p>
            <a:pPr>
              <a:buFont typeface="Wingdings" panose="020B0604020202020204" pitchFamily="34" charset="0"/>
              <a:buChar char="v"/>
            </a:pPr>
            <a:r>
              <a:rPr lang="en-US" dirty="0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With DML, you can perform various operations such as inserting, updating, selecting and deleting data.</a:t>
            </a:r>
            <a:endParaRPr lang="en-US"/>
          </a:p>
          <a:p>
            <a:pPr marL="0" indent="0">
              <a:buNone/>
            </a:pPr>
            <a:r>
              <a:rPr lang="en-US" sz="1600">
                <a:solidFill>
                  <a:srgbClr val="0A0A0A"/>
                </a:solidFill>
                <a:highlight>
                  <a:srgbClr val="F3F5F6"/>
                </a:highlight>
                <a:latin typeface="Consolas"/>
              </a:rPr>
              <a:t>DIFFERENT COMANDS USED ARE:</a:t>
            </a:r>
          </a:p>
          <a:p>
            <a:pPr>
              <a:buFont typeface="Wingdings" panose="020B0604020202020204" pitchFamily="34" charset="0"/>
              <a:buChar char="v"/>
            </a:pPr>
            <a:r>
              <a:rPr lang="en-US" sz="1600">
                <a:solidFill>
                  <a:srgbClr val="0A0A0A"/>
                </a:solidFill>
                <a:highlight>
                  <a:srgbClr val="F3F5F6"/>
                </a:highlight>
                <a:latin typeface="Consolas"/>
              </a:rPr>
              <a:t>SELECT</a:t>
            </a:r>
          </a:p>
          <a:p>
            <a:pPr>
              <a:buFont typeface="Wingdings" panose="020B0604020202020204" pitchFamily="34" charset="0"/>
              <a:buChar char="v"/>
            </a:pPr>
            <a:r>
              <a:rPr lang="en-US" sz="1600">
                <a:solidFill>
                  <a:srgbClr val="0A0A0A"/>
                </a:solidFill>
                <a:highlight>
                  <a:srgbClr val="F3F5F6"/>
                </a:highlight>
                <a:latin typeface="Consolas"/>
              </a:rPr>
              <a:t>INSERT</a:t>
            </a:r>
          </a:p>
          <a:p>
            <a:pPr>
              <a:buFont typeface="Wingdings" panose="020B0604020202020204" pitchFamily="34" charset="0"/>
              <a:buChar char="v"/>
            </a:pPr>
            <a:r>
              <a:rPr lang="en-US" sz="1600">
                <a:solidFill>
                  <a:srgbClr val="0A0A0A"/>
                </a:solidFill>
                <a:highlight>
                  <a:srgbClr val="F3F5F6"/>
                </a:highlight>
                <a:latin typeface="Consolas"/>
              </a:rPr>
              <a:t>UPDATE</a:t>
            </a:r>
          </a:p>
          <a:p>
            <a:pPr>
              <a:buFont typeface="Wingdings" panose="020B0604020202020204" pitchFamily="34" charset="0"/>
              <a:buChar char="v"/>
            </a:pPr>
            <a:r>
              <a:rPr lang="en-US" sz="1600">
                <a:solidFill>
                  <a:srgbClr val="0A0A0A"/>
                </a:solidFill>
                <a:highlight>
                  <a:srgbClr val="F3F5F6"/>
                </a:highlight>
                <a:latin typeface="Consolas"/>
              </a:rPr>
              <a:t>DELETE </a:t>
            </a:r>
          </a:p>
          <a:p>
            <a:pPr>
              <a:buFont typeface="Wingdings" panose="020B0604020202020204" pitchFamily="34" charset="0"/>
              <a:buChar char="v"/>
            </a:pPr>
            <a:r>
              <a:rPr lang="en-US" sz="1600">
                <a:solidFill>
                  <a:srgbClr val="0A0A0A"/>
                </a:solidFill>
                <a:highlight>
                  <a:srgbClr val="F3F5F6"/>
                </a:highlight>
                <a:latin typeface="Consolas"/>
              </a:rPr>
              <a:t>MERGE</a:t>
            </a:r>
          </a:p>
          <a:p>
            <a:pPr>
              <a:buFont typeface="Wingdings" panose="020B0604020202020204" pitchFamily="34" charset="0"/>
              <a:buChar char="v"/>
            </a:pPr>
            <a:endParaRPr lang="en-US" sz="1100" dirty="0">
              <a:solidFill>
                <a:srgbClr val="0A0A0A"/>
              </a:solidFill>
              <a:highlight>
                <a:srgbClr val="F3F5F6"/>
              </a:highlight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875614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27026-A59C-10D5-7CDE-4B36A3D9C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175" y="1351378"/>
            <a:ext cx="10890928" cy="472730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§"/>
            </a:pPr>
            <a:r>
              <a:rPr lang="en-US" b="1">
                <a:solidFill>
                  <a:srgbClr val="FF0000"/>
                </a:solidFill>
                <a:highlight>
                  <a:srgbClr val="FFFFFF"/>
                </a:highlight>
                <a:latin typeface="Nunito"/>
              </a:rPr>
              <a:t>SELECT: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Nunito"/>
              </a:rPr>
              <a:t> </a:t>
            </a:r>
            <a:r>
              <a:rPr lang="en-US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Retrieves data from the table based on specific criteria.</a:t>
            </a:r>
            <a:endParaRPr lang="en-US"/>
          </a:p>
          <a:p>
            <a:pPr>
              <a:buFont typeface="Wingdings" panose="020B0604020202020204" pitchFamily="34" charset="0"/>
              <a:buChar char="§"/>
            </a:pPr>
            <a:r>
              <a:rPr lang="en-US" b="1">
                <a:solidFill>
                  <a:srgbClr val="FF0000"/>
                </a:solidFill>
                <a:highlight>
                  <a:srgbClr val="FFFFFF"/>
                </a:highlight>
                <a:latin typeface="Nunito"/>
              </a:rPr>
              <a:t>INSERT: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Nunito"/>
              </a:rPr>
              <a:t> </a:t>
            </a:r>
            <a:r>
              <a:rPr lang="en-US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Adds new rows of data into an existing table.</a:t>
            </a:r>
            <a:endParaRPr lang="en-US"/>
          </a:p>
          <a:p>
            <a:pPr>
              <a:buFont typeface="Wingdings" panose="020B0604020202020204" pitchFamily="34" charset="0"/>
              <a:buChar char="§"/>
            </a:pPr>
            <a:r>
              <a:rPr lang="en-US" b="1" dirty="0">
                <a:solidFill>
                  <a:srgbClr val="FF0000"/>
                </a:solidFill>
                <a:highlight>
                  <a:srgbClr val="FFFFFF"/>
                </a:highlight>
                <a:latin typeface="Nunito"/>
              </a:rPr>
              <a:t>UPDATE: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Nunito"/>
              </a:rPr>
              <a:t> </a:t>
            </a:r>
            <a:r>
              <a:rPr lang="en-US" dirty="0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Modifies existing data in a table.</a:t>
            </a:r>
            <a:endParaRPr lang="en-US"/>
          </a:p>
          <a:p>
            <a:pPr>
              <a:buFont typeface="Wingdings" panose="020B0604020202020204" pitchFamily="34" charset="0"/>
              <a:buChar char="§"/>
            </a:pPr>
            <a:r>
              <a:rPr lang="en-US" b="1">
                <a:solidFill>
                  <a:srgbClr val="FF0000"/>
                </a:solidFill>
                <a:highlight>
                  <a:srgbClr val="FFFFFF"/>
                </a:highlight>
                <a:latin typeface="Nunito"/>
              </a:rPr>
              <a:t>DELETE: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Nunito"/>
              </a:rPr>
              <a:t> </a:t>
            </a:r>
            <a:r>
              <a:rPr lang="en-US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Removes data from a table.</a:t>
            </a:r>
            <a:endParaRPr lang="en-US"/>
          </a:p>
          <a:p>
            <a:pPr>
              <a:buFont typeface="Wingdings" panose="020B0604020202020204" pitchFamily="34" charset="0"/>
              <a:buChar char="§"/>
            </a:pPr>
            <a:r>
              <a:rPr lang="en-US" b="1" dirty="0">
                <a:solidFill>
                  <a:srgbClr val="FF0000"/>
                </a:solidFill>
                <a:highlight>
                  <a:srgbClr val="FFFFFF"/>
                </a:highlight>
                <a:latin typeface="Nunito"/>
              </a:rPr>
              <a:t>MERGE:</a:t>
            </a:r>
            <a:r>
              <a:rPr lang="en-US" dirty="0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 Performs an "</a:t>
            </a:r>
            <a:r>
              <a:rPr lang="en-US" dirty="0" err="1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upsert</a:t>
            </a:r>
            <a:r>
              <a:rPr lang="en-US" dirty="0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" operation, which means updating existing records or inserting new ones if they don’t exist.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828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BB65B-EA0E-1BE9-7D4E-735FEE679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Data Control Language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3C976-0946-0781-8125-CB1682F25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224040"/>
            <a:ext cx="10890928" cy="39755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It is used to control the access permissions of users to the database. </a:t>
            </a:r>
            <a:endParaRPr lang="en-US">
              <a:solidFill>
                <a:srgbClr val="000000"/>
              </a:solidFill>
              <a:latin typeface="Grandview Display"/>
            </a:endParaRPr>
          </a:p>
          <a:p>
            <a:pPr marL="0" indent="0">
              <a:buNone/>
            </a:pPr>
            <a:r>
              <a:rPr lang="en-US" dirty="0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DCL commands help grant or revoke privileges to users, determining who can perform actions like reading or modifying data. </a:t>
            </a:r>
            <a:endParaRPr lang="en-US">
              <a:solidFill>
                <a:srgbClr val="000000"/>
              </a:solidFill>
              <a:latin typeface="Grandview Display"/>
            </a:endParaRPr>
          </a:p>
          <a:p>
            <a:pPr marL="0" indent="0">
              <a:buNone/>
            </a:pPr>
            <a:r>
              <a:rPr lang="en-US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DCL commands are transactional, meaning they can be rolled back if </a:t>
            </a:r>
            <a:r>
              <a:rPr lang="en-US" dirty="0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necessary. </a:t>
            </a:r>
            <a:endParaRPr lang="en-US">
              <a:solidFill>
                <a:srgbClr val="000000"/>
              </a:solidFill>
              <a:latin typeface="Grandview Display"/>
            </a:endParaRPr>
          </a:p>
          <a:p>
            <a:pPr marL="0" indent="0">
              <a:buNone/>
            </a:pPr>
            <a:r>
              <a:rPr lang="en-US" sz="2400" b="1" u="sng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The two main DCL commands are:</a:t>
            </a:r>
            <a:endParaRPr lang="en-US" sz="2400" b="1" u="sng"/>
          </a:p>
          <a:p>
            <a:r>
              <a:rPr lang="en-US" b="1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Grant:</a:t>
            </a:r>
            <a:r>
              <a:rPr lang="en-US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 Gives user access to the database</a:t>
            </a:r>
            <a:endParaRPr lang="en-US"/>
          </a:p>
          <a:p>
            <a:r>
              <a:rPr lang="en-US" b="1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Revoke:</a:t>
            </a:r>
            <a:r>
              <a:rPr lang="en-US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 Removes access or permissions from the user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152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5267F-ED07-6BE4-6EF4-B85B34969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Transaction </a:t>
            </a:r>
            <a:r>
              <a:rPr lang="en-US">
                <a:latin typeface="Calibri"/>
                <a:ea typeface="Calibri"/>
                <a:cs typeface="Calibri"/>
              </a:rPr>
              <a:t>Control Language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6FF38-F8BF-ED15-D0FA-553F2E50E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210139"/>
            <a:ext cx="10890928" cy="398949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v"/>
            </a:pPr>
            <a:r>
              <a:rPr lang="en-US" sz="1800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It is used to manage and control transactions in a database, grouping them into logical units. </a:t>
            </a:r>
            <a:endParaRPr lang="en-US" sz="1800">
              <a:solidFill>
                <a:srgbClr val="000000"/>
              </a:solidFill>
              <a:latin typeface="Grandview Display"/>
            </a:endParaRPr>
          </a:p>
          <a:p>
            <a:pPr>
              <a:buFont typeface="Wingdings" panose="020B0604020202020204" pitchFamily="34" charset="0"/>
              <a:buChar char="v"/>
            </a:pPr>
            <a:r>
              <a:rPr lang="en-US" sz="1800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These commands help ensure the integrity of data and consistency during complex operations. </a:t>
            </a:r>
            <a:endParaRPr lang="en-US" sz="1800">
              <a:solidFill>
                <a:srgbClr val="000000"/>
              </a:solidFill>
              <a:latin typeface="Grandview Display"/>
            </a:endParaRPr>
          </a:p>
          <a:p>
            <a:pPr marL="0" indent="0">
              <a:buNone/>
            </a:pPr>
            <a:r>
              <a:rPr lang="en-US" b="1" u="sng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Different Commands used are :</a:t>
            </a:r>
            <a:endParaRPr lang="en-US" b="1" u="sng"/>
          </a:p>
          <a:p>
            <a:pPr>
              <a:buFont typeface="Wingdings" panose="020B0604020202020204" pitchFamily="34" charset="0"/>
              <a:buChar char="v"/>
            </a:pPr>
            <a:r>
              <a:rPr lang="en-US" sz="1800" b="1" dirty="0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Commit:</a:t>
            </a:r>
            <a:r>
              <a:rPr lang="en-US" sz="1800" dirty="0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 Saves all the changes made during the current transaction to the database. These are very useful in the banking sector.</a:t>
            </a:r>
            <a:endParaRPr lang="en-US" sz="1800"/>
          </a:p>
          <a:p>
            <a:pPr>
              <a:buFont typeface="Wingdings" panose="020B0604020202020204" pitchFamily="34" charset="0"/>
              <a:buChar char="v"/>
            </a:pPr>
            <a:r>
              <a:rPr lang="en-US" sz="1800" b="1" dirty="0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Rollback:</a:t>
            </a:r>
            <a:r>
              <a:rPr lang="en-US" sz="1800" dirty="0">
                <a:solidFill>
                  <a:srgbClr val="273239"/>
                </a:solidFill>
                <a:highlight>
                  <a:srgbClr val="FFFFFF"/>
                </a:highlight>
                <a:latin typeface="Nunito"/>
              </a:rPr>
              <a:t> used to restore the database to its original state from the last commit. This command also plays an important role in Banking Sectors.</a:t>
            </a:r>
            <a:endParaRPr lang="en-US" sz="1800" dirty="0"/>
          </a:p>
          <a:p>
            <a:pPr>
              <a:buFont typeface="Wingdings" panose="020B0604020202020204" pitchFamily="34" charset="0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490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5BB8B-4EB3-3299-BCE0-8108F8FF4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Data Query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E65D7-1AAC-23CD-776D-D7E8BEB54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 </a:t>
            </a:r>
            <a:r>
              <a:rPr lang="en-US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Often considered a separate category or a subset of DML, it is specifically used to retrieve or fetch data using the </a:t>
            </a:r>
            <a:r>
              <a:rPr lang="en-US" sz="1800">
                <a:solidFill>
                  <a:srgbClr val="0A0A0A"/>
                </a:solidFill>
                <a:highlight>
                  <a:srgbClr val="F3F5F6"/>
                </a:highlight>
                <a:latin typeface="Consolas"/>
              </a:rPr>
              <a:t>SELECT</a:t>
            </a:r>
            <a:r>
              <a:rPr lang="en-US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 command.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689460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DashVTI</vt:lpstr>
      <vt:lpstr>DATABASE LANGUAGES IN DBMS</vt:lpstr>
      <vt:lpstr>They are of 5 types:</vt:lpstr>
      <vt:lpstr>DDL (Data Definition Language)</vt:lpstr>
      <vt:lpstr>PowerPoint Presentation</vt:lpstr>
      <vt:lpstr>Data Manipulation Language</vt:lpstr>
      <vt:lpstr>PowerPoint Presentation</vt:lpstr>
      <vt:lpstr>Data Control Language </vt:lpstr>
      <vt:lpstr>Transaction Control Language</vt:lpstr>
      <vt:lpstr>Data Query Language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178</cp:revision>
  <dcterms:created xsi:type="dcterms:W3CDTF">2026-04-10T08:30:27Z</dcterms:created>
  <dcterms:modified xsi:type="dcterms:W3CDTF">2026-04-10T09:05:48Z</dcterms:modified>
</cp:coreProperties>
</file>